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D2847-D6F9-1397-694E-239AF6E6100E}" v="287" dt="2025-12-29T20:47:56.493"/>
    <p1510:client id="{90FE4705-9577-4E66-83D2-3D96D734AC2C}" v="25" dt="2025-12-29T19:00:22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6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6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7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2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9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9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6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5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5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12/29/2025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2171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7">
            <a:extLst>
              <a:ext uri="{FF2B5EF4-FFF2-40B4-BE49-F238E27FC236}">
                <a16:creationId xmlns:a16="http://schemas.microsoft.com/office/drawing/2014/main" id="{9B9AACA9-BD92-429F-8047-0731DB46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046D8F9-B18B-42F5-B320-22E156F4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980DF08-8878-4A99-871A-573EBF4F3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E0FF3E7-007F-48E0-8352-89CE4375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02DE4FC-8B38-40C7-A2F5-CBD4C6592E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C97C509-DDA4-4291-88B3-8E2B146099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6345897-50D9-424E-A94E-18A63AEE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66E6E08-BABA-49E9-884E-480584915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487487" y="781609"/>
            <a:ext cx="9173233" cy="2645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dirty="0">
                <a:latin typeface="+mn-lt"/>
                <a:ea typeface="Calibri"/>
                <a:cs typeface="Calibri"/>
              </a:rPr>
              <a:t>PARKWİSE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87488" y="3431191"/>
            <a:ext cx="9172628" cy="266732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tr-TR" sz="1200" b="1" dirty="0">
                <a:ea typeface="+mn-lt"/>
                <a:cs typeface="+mn-lt"/>
              </a:rPr>
              <a:t>Ders Adı: </a:t>
            </a:r>
            <a:r>
              <a:rPr lang="tr-TR" sz="1200" dirty="0">
                <a:ea typeface="+mn-lt"/>
                <a:cs typeface="+mn-lt"/>
              </a:rPr>
              <a:t>Görsel Programlama</a:t>
            </a:r>
            <a:endParaRPr lang="tr-TR" dirty="0"/>
          </a:p>
          <a:p>
            <a:pPr algn="ctr"/>
            <a:r>
              <a:rPr lang="tr-TR" sz="1200" b="1" dirty="0">
                <a:ea typeface="+mn-lt"/>
                <a:cs typeface="+mn-lt"/>
              </a:rPr>
              <a:t>Proje Türü:</a:t>
            </a:r>
            <a:r>
              <a:rPr lang="tr-TR" sz="1200" dirty="0">
                <a:ea typeface="+mn-lt"/>
                <a:cs typeface="+mn-lt"/>
              </a:rPr>
              <a:t> Vize Projesi</a:t>
            </a:r>
            <a:endParaRPr lang="tr-TR" dirty="0"/>
          </a:p>
          <a:p>
            <a:pPr algn="ctr"/>
            <a:r>
              <a:rPr lang="tr-TR" sz="1200" b="1" dirty="0">
                <a:ea typeface="+mn-lt"/>
                <a:cs typeface="+mn-lt"/>
              </a:rPr>
              <a:t>Proje Adı:</a:t>
            </a:r>
            <a:r>
              <a:rPr lang="tr-TR" sz="1200" dirty="0">
                <a:ea typeface="+mn-lt"/>
                <a:cs typeface="+mn-lt"/>
              </a:rPr>
              <a:t> </a:t>
            </a:r>
            <a:r>
              <a:rPr lang="tr-TR" sz="1200" dirty="0" err="1">
                <a:ea typeface="+mn-lt"/>
                <a:cs typeface="+mn-lt"/>
              </a:rPr>
              <a:t>Parkwise</a:t>
            </a:r>
            <a:endParaRPr lang="tr-TR" dirty="0" err="1"/>
          </a:p>
          <a:p>
            <a:pPr algn="ctr"/>
            <a:r>
              <a:rPr lang="tr-TR" sz="1200" b="1" dirty="0">
                <a:ea typeface="+mn-lt"/>
                <a:cs typeface="+mn-lt"/>
              </a:rPr>
              <a:t>Öğrenci </a:t>
            </a:r>
            <a:r>
              <a:rPr lang="tr-TR" sz="1200" b="1" dirty="0" err="1">
                <a:ea typeface="+mn-lt"/>
                <a:cs typeface="+mn-lt"/>
              </a:rPr>
              <a:t>AdI</a:t>
            </a:r>
            <a:r>
              <a:rPr lang="tr-TR" sz="1200" b="1" dirty="0">
                <a:ea typeface="+mn-lt"/>
                <a:cs typeface="+mn-lt"/>
              </a:rPr>
              <a:t> - Soyadı:</a:t>
            </a:r>
            <a:r>
              <a:rPr lang="tr-TR" sz="1200" dirty="0">
                <a:ea typeface="+mn-lt"/>
                <a:cs typeface="+mn-lt"/>
              </a:rPr>
              <a:t> Atilla Topçu, Can Demir, Çınar Bıçak, Yağmur Gündoğdu</a:t>
            </a:r>
            <a:endParaRPr lang="tr-TR" dirty="0"/>
          </a:p>
          <a:p>
            <a:pPr algn="ctr"/>
            <a:r>
              <a:rPr lang="tr-TR" sz="1200" b="1" dirty="0">
                <a:ea typeface="+mn-lt"/>
                <a:cs typeface="+mn-lt"/>
              </a:rPr>
              <a:t>Öğrenci No:</a:t>
            </a:r>
            <a:r>
              <a:rPr lang="tr-TR" sz="1200" dirty="0">
                <a:ea typeface="+mn-lt"/>
                <a:cs typeface="+mn-lt"/>
              </a:rPr>
              <a:t> 24BİLP0111, 24BİLP0030, 24BİLP0107, 24BİLP0101</a:t>
            </a:r>
            <a:endParaRPr lang="tr-TR" dirty="0"/>
          </a:p>
          <a:p>
            <a:pPr algn="ctr"/>
            <a:r>
              <a:rPr lang="tr-TR" sz="1200" b="1" dirty="0">
                <a:ea typeface="+mn-lt"/>
                <a:cs typeface="+mn-lt"/>
              </a:rPr>
              <a:t>Öğretmen Adı:</a:t>
            </a:r>
            <a:r>
              <a:rPr lang="tr-TR" sz="1200" dirty="0">
                <a:ea typeface="+mn-lt"/>
                <a:cs typeface="+mn-lt"/>
              </a:rPr>
              <a:t> Öner Aytaş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FAA95C-F886-9779-D6B6-71AB8445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1613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dirty="0">
                <a:latin typeface="Avenir Next LT Pro"/>
                <a:ea typeface="+mj-lt"/>
                <a:cs typeface="+mj-lt"/>
              </a:rPr>
              <a:t>Projenin Amacı ve Motivasyonu</a:t>
            </a:r>
            <a:endParaRPr lang="tr-TR" dirty="0">
              <a:latin typeface="Avenir Next LT Pro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B439312-7E61-43CD-5900-0E4540A27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31853"/>
            <a:ext cx="11101136" cy="45768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69875" indent="-269875"/>
            <a:r>
              <a:rPr lang="tr-TR" sz="2000" b="1" dirty="0">
                <a:ea typeface="+mn-lt"/>
                <a:cs typeface="+mn-lt"/>
              </a:rPr>
              <a:t>Verimlilik:</a:t>
            </a:r>
            <a:r>
              <a:rPr lang="tr-TR" sz="2000" dirty="0">
                <a:ea typeface="+mn-lt"/>
                <a:cs typeface="+mn-lt"/>
              </a:rPr>
              <a:t> Otopark alanlarının daha düzenli ve kullanıcı dostu yönetilmesi.</a:t>
            </a:r>
            <a:endParaRPr lang="tr-TR" sz="2000" dirty="0"/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Anlık Takip:</a:t>
            </a:r>
            <a:r>
              <a:rPr lang="tr-TR" sz="2000" dirty="0">
                <a:ea typeface="+mn-lt"/>
                <a:cs typeface="+mn-lt"/>
              </a:rPr>
              <a:t> Boş ve dolu alanların anlık tespitiyle hızlı yer bulma imkanı.</a:t>
            </a:r>
            <a:endParaRPr lang="tr-TR" sz="2000" dirty="0"/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Hız ve Trafik:</a:t>
            </a:r>
            <a:r>
              <a:rPr lang="tr-TR" sz="2000" dirty="0">
                <a:ea typeface="+mn-lt"/>
                <a:cs typeface="+mn-lt"/>
              </a:rPr>
              <a:t> Giriş-çıkış süreçlerini otomatikleştirerek zaman kaybını ve trafik yoğunluğunu önleme.</a:t>
            </a:r>
            <a:endParaRPr lang="tr-TR" sz="2000" dirty="0"/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Yönetim:</a:t>
            </a:r>
            <a:r>
              <a:rPr lang="tr-TR" sz="2000" dirty="0">
                <a:ea typeface="+mn-lt"/>
                <a:cs typeface="+mn-lt"/>
              </a:rPr>
              <a:t> Hem sürücüler hem de yöneticiler için güvenli ve pratik bir sistem sunma.</a:t>
            </a:r>
            <a:endParaRPr lang="tr-TR" sz="2000" dirty="0"/>
          </a:p>
          <a:p>
            <a:pPr marL="269875" indent="-269875"/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28263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99141A-CF86-FE54-D0F7-BD767D6A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dirty="0">
                <a:latin typeface="Avenir Next LT Pro"/>
                <a:ea typeface="+mj-lt"/>
                <a:cs typeface="+mj-lt"/>
              </a:rPr>
              <a:t>Yapay Zeka (AI) Kullanımı</a:t>
            </a:r>
            <a:endParaRPr lang="tr-TR" dirty="0">
              <a:latin typeface="Avenir Next LT Pro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C9A202-D83C-9E39-C3C4-8CEB8B4B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269875" indent="-269875"/>
            <a:r>
              <a:rPr lang="tr-TR" sz="2000" b="1" dirty="0">
                <a:ea typeface="+mn-lt"/>
                <a:cs typeface="+mn-lt"/>
              </a:rPr>
              <a:t>Tasarım Desteği:</a:t>
            </a:r>
            <a:r>
              <a:rPr lang="tr-TR" sz="2000" dirty="0">
                <a:ea typeface="+mn-lt"/>
                <a:cs typeface="+mn-lt"/>
              </a:rPr>
              <a:t> Renk kodlarının belirlenmesi ve </a:t>
            </a:r>
            <a:r>
              <a:rPr lang="tr-TR" sz="2000" dirty="0" err="1">
                <a:ea typeface="+mn-lt"/>
                <a:cs typeface="+mn-lt"/>
              </a:rPr>
              <a:t>DataGridView</a:t>
            </a:r>
            <a:r>
              <a:rPr lang="tr-TR" sz="2000" dirty="0">
                <a:ea typeface="+mn-lt"/>
                <a:cs typeface="+mn-lt"/>
              </a:rPr>
              <a:t> bileşenlerinin (</a:t>
            </a:r>
            <a:r>
              <a:rPr lang="tr-TR" sz="2000" dirty="0" err="1">
                <a:ea typeface="+mn-lt"/>
                <a:cs typeface="+mn-lt"/>
              </a:rPr>
              <a:t>scroll</a:t>
            </a:r>
            <a:r>
              <a:rPr lang="tr-TR" sz="2000" dirty="0">
                <a:ea typeface="+mn-lt"/>
                <a:cs typeface="+mn-lt"/>
              </a:rPr>
              <a:t> mantığı vb.) tasarımı.</a:t>
            </a:r>
            <a:endParaRPr lang="tr-TR" sz="2000" dirty="0"/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Veri Yönetimi:</a:t>
            </a:r>
            <a:r>
              <a:rPr lang="tr-TR" sz="2000" dirty="0">
                <a:ea typeface="+mn-lt"/>
                <a:cs typeface="+mn-lt"/>
              </a:rPr>
              <a:t> Veri tabanı için örnek (</a:t>
            </a:r>
            <a:r>
              <a:rPr lang="tr-TR" sz="2000" dirty="0" err="1">
                <a:ea typeface="+mn-lt"/>
                <a:cs typeface="+mn-lt"/>
              </a:rPr>
              <a:t>dummy</a:t>
            </a:r>
            <a:r>
              <a:rPr lang="tr-TR" sz="2000" dirty="0">
                <a:ea typeface="+mn-lt"/>
                <a:cs typeface="+mn-lt"/>
              </a:rPr>
              <a:t>) veri üretimi.</a:t>
            </a:r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Veri Yönetimi: </a:t>
            </a:r>
            <a:r>
              <a:rPr lang="tr-TR" sz="2000" dirty="0">
                <a:ea typeface="+mn-lt"/>
                <a:cs typeface="+mn-lt"/>
              </a:rPr>
              <a:t>Veri tabanından veri çekme/gönderme fonksiyonlarının düzenlenmesi.</a:t>
            </a:r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Algoritmik Destek:</a:t>
            </a:r>
            <a:r>
              <a:rPr lang="tr-TR" sz="2000" dirty="0">
                <a:ea typeface="+mn-lt"/>
                <a:cs typeface="+mn-lt"/>
              </a:rPr>
              <a:t> "</a:t>
            </a:r>
            <a:r>
              <a:rPr lang="tr-TR" sz="2000" dirty="0" err="1">
                <a:ea typeface="+mn-lt"/>
                <a:cs typeface="+mn-lt"/>
              </a:rPr>
              <a:t>Parkingarea</a:t>
            </a:r>
            <a:r>
              <a:rPr lang="tr-TR" sz="2000" dirty="0">
                <a:ea typeface="+mn-lt"/>
                <a:cs typeface="+mn-lt"/>
              </a:rPr>
              <a:t>" düzenleme şemasının oluşturulması ve karmaşık veri tabanı fonksiyonlarının yazımı.</a:t>
            </a:r>
            <a:endParaRPr lang="tr-TR" sz="2000" dirty="0"/>
          </a:p>
          <a:p>
            <a:pPr marL="269875" indent="-269875"/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23973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800041-71C6-36A0-1504-34D85184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dirty="0">
                <a:latin typeface="Avenir Next LT Pro"/>
                <a:ea typeface="+mj-lt"/>
                <a:cs typeface="+mj-lt"/>
              </a:rPr>
              <a:t>Karşılaşılan Problemler ve Çözümler</a:t>
            </a:r>
            <a:endParaRPr lang="tr-TR" dirty="0">
              <a:latin typeface="Avenir Next LT Pro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7D413D9-6756-068C-62CE-C7C862AD7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269875" indent="-269875"/>
            <a:r>
              <a:rPr lang="tr-TR" sz="2000" b="1" dirty="0">
                <a:ea typeface="+mn-lt"/>
                <a:cs typeface="+mn-lt"/>
              </a:rPr>
              <a:t>UI Sınırları:</a:t>
            </a:r>
            <a:r>
              <a:rPr lang="tr-TR" sz="2000" dirty="0">
                <a:ea typeface="+mn-lt"/>
                <a:cs typeface="+mn-lt"/>
              </a:rPr>
              <a:t> </a:t>
            </a:r>
            <a:r>
              <a:rPr lang="tr-TR" sz="2000" dirty="0" err="1">
                <a:ea typeface="+mn-lt"/>
                <a:cs typeface="+mn-lt"/>
              </a:rPr>
              <a:t>Winform'un</a:t>
            </a:r>
            <a:r>
              <a:rPr lang="tr-TR" sz="2000" dirty="0">
                <a:ea typeface="+mn-lt"/>
                <a:cs typeface="+mn-lt"/>
              </a:rPr>
              <a:t> standart arayüzünde </a:t>
            </a:r>
            <a:r>
              <a:rPr lang="tr-TR" sz="2000" dirty="0" err="1">
                <a:ea typeface="+mn-lt"/>
                <a:cs typeface="+mn-lt"/>
              </a:rPr>
              <a:t>placeholder</a:t>
            </a:r>
            <a:r>
              <a:rPr lang="tr-TR" sz="2000" dirty="0">
                <a:ea typeface="+mn-lt"/>
                <a:cs typeface="+mn-lt"/>
              </a:rPr>
              <a:t> ve </a:t>
            </a:r>
            <a:r>
              <a:rPr lang="tr-TR" sz="2000" dirty="0" err="1">
                <a:ea typeface="+mn-lt"/>
                <a:cs typeface="+mn-lt"/>
              </a:rPr>
              <a:t>border-radius</a:t>
            </a:r>
            <a:r>
              <a:rPr lang="tr-TR" sz="2000" dirty="0">
                <a:ea typeface="+mn-lt"/>
                <a:cs typeface="+mn-lt"/>
              </a:rPr>
              <a:t> (köşe yuvarlama) eksikliği.</a:t>
            </a:r>
            <a:endParaRPr lang="tr-TR" sz="2000" dirty="0"/>
          </a:p>
          <a:p>
            <a:pPr marL="719455" lvl="1" indent="-269875"/>
            <a:r>
              <a:rPr lang="tr-TR" sz="2000" b="1" dirty="0">
                <a:ea typeface="+mn-lt"/>
                <a:cs typeface="+mn-lt"/>
              </a:rPr>
              <a:t>Çözüm:</a:t>
            </a:r>
            <a:r>
              <a:rPr lang="tr-TR" sz="2000" dirty="0">
                <a:ea typeface="+mn-lt"/>
                <a:cs typeface="+mn-lt"/>
              </a:rPr>
              <a:t> Özel bir UI aracı (</a:t>
            </a:r>
            <a:r>
              <a:rPr lang="tr-TR" sz="2000" dirty="0" err="1">
                <a:ea typeface="+mn-lt"/>
                <a:cs typeface="+mn-lt"/>
              </a:rPr>
              <a:t>tool</a:t>
            </a:r>
            <a:r>
              <a:rPr lang="tr-TR" sz="2000" dirty="0">
                <a:ea typeface="+mn-lt"/>
                <a:cs typeface="+mn-lt"/>
              </a:rPr>
              <a:t>) yazılarak bu görsel eksiklikler giderildi.</a:t>
            </a:r>
            <a:endParaRPr lang="tr-TR" sz="2000" dirty="0"/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Algoritmik Çakışmalar:</a:t>
            </a:r>
            <a:r>
              <a:rPr lang="tr-TR" sz="2000" dirty="0">
                <a:ea typeface="+mn-lt"/>
                <a:cs typeface="+mn-lt"/>
              </a:rPr>
              <a:t> Park yerlerinin arayüzde üst üste binme sorunu.</a:t>
            </a:r>
            <a:endParaRPr lang="tr-TR" sz="2000" dirty="0"/>
          </a:p>
          <a:p>
            <a:pPr marL="719455" lvl="1" indent="-269875"/>
            <a:r>
              <a:rPr lang="tr-TR" sz="2000" b="1" dirty="0">
                <a:ea typeface="+mn-lt"/>
                <a:cs typeface="+mn-lt"/>
              </a:rPr>
              <a:t>Çözüm:</a:t>
            </a:r>
            <a:r>
              <a:rPr lang="tr-TR" sz="2000" dirty="0">
                <a:ea typeface="+mn-lt"/>
                <a:cs typeface="+mn-lt"/>
              </a:rPr>
              <a:t> Yerleşimin çakışmasını önleyen özel bir algoritma geliştirildi.</a:t>
            </a:r>
            <a:endParaRPr lang="tr-TR" sz="2000" dirty="0"/>
          </a:p>
          <a:p>
            <a:pPr marL="269875" indent="-269875"/>
            <a:r>
              <a:rPr lang="tr-TR" sz="2000" b="1" dirty="0">
                <a:ea typeface="+mn-lt"/>
                <a:cs typeface="+mn-lt"/>
              </a:rPr>
              <a:t>Veri Tabanı Fonksiyonları:</a:t>
            </a:r>
            <a:r>
              <a:rPr lang="tr-TR" sz="2000" dirty="0">
                <a:ea typeface="+mn-lt"/>
                <a:cs typeface="+mn-lt"/>
              </a:rPr>
              <a:t> Fonksiyonlar oluşturulurken hatalar alındı. </a:t>
            </a:r>
            <a:endParaRPr lang="tr-TR" dirty="0">
              <a:ea typeface="+mn-lt"/>
              <a:cs typeface="+mn-lt"/>
            </a:endParaRPr>
          </a:p>
          <a:p>
            <a:pPr marL="727075" lvl="1" indent="-269875"/>
            <a:r>
              <a:rPr lang="tr-TR" sz="2000" b="1" dirty="0">
                <a:ea typeface="+mn-lt"/>
                <a:cs typeface="+mn-lt"/>
              </a:rPr>
              <a:t>Çözüm: </a:t>
            </a:r>
            <a:r>
              <a:rPr lang="tr-TR" sz="2000" dirty="0">
                <a:ea typeface="+mn-lt"/>
                <a:cs typeface="+mn-lt"/>
              </a:rPr>
              <a:t>AI yardımıyla çözüldü.</a:t>
            </a:r>
            <a:endParaRPr lang="tr-TR" dirty="0"/>
          </a:p>
          <a:p>
            <a:pPr marL="269875" indent="-269875"/>
            <a:r>
              <a:rPr lang="tr-TR" sz="2000" b="1" dirty="0" err="1">
                <a:ea typeface="+mn-lt"/>
                <a:cs typeface="+mn-lt"/>
              </a:rPr>
              <a:t>NuGet</a:t>
            </a:r>
            <a:r>
              <a:rPr lang="tr-TR" sz="2000" b="1" dirty="0">
                <a:ea typeface="+mn-lt"/>
                <a:cs typeface="+mn-lt"/>
              </a:rPr>
              <a:t> Sürüm Çakışması:</a:t>
            </a:r>
            <a:r>
              <a:rPr lang="tr-TR" sz="2000" dirty="0">
                <a:ea typeface="+mn-lt"/>
                <a:cs typeface="+mn-lt"/>
              </a:rPr>
              <a:t> Excel'e çıktı alma aşamasında paket sürüm uyuşmazlığı yaşandı.</a:t>
            </a:r>
            <a:endParaRPr lang="tr-TR" dirty="0">
              <a:ea typeface="+mn-lt"/>
              <a:cs typeface="+mn-lt"/>
            </a:endParaRPr>
          </a:p>
          <a:p>
            <a:pPr marL="727075" lvl="1" indent="-269875"/>
            <a:r>
              <a:rPr lang="tr-TR" sz="2000" b="1" dirty="0">
                <a:ea typeface="+mn-lt"/>
                <a:cs typeface="+mn-lt"/>
              </a:rPr>
              <a:t>Çözüm:</a:t>
            </a:r>
            <a:r>
              <a:rPr lang="tr-TR" sz="2000" dirty="0">
                <a:ea typeface="+mn-lt"/>
                <a:cs typeface="+mn-lt"/>
              </a:rPr>
              <a:t> farklı bir paket kullanılarak sorun aşıldı.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332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F1B144-589D-69B7-BBA7-FC422EE2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dirty="0">
                <a:latin typeface="Avenir Next LT Pro"/>
                <a:ea typeface="+mj-lt"/>
                <a:cs typeface="+mj-lt"/>
              </a:rPr>
              <a:t>Uygulama Özellikleri</a:t>
            </a:r>
            <a:endParaRPr lang="tr-TR" dirty="0">
              <a:latin typeface="Avenir Next LT Pro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7B1C24-AFA2-C1D9-B708-D012B7A15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285750" indent="-285750">
              <a:buFont typeface="Arial,Sans-Serif" panose="020B0604020202020204" pitchFamily="34" charset="0"/>
            </a:pPr>
            <a:r>
              <a:rPr lang="tr-TR" b="1" dirty="0"/>
              <a:t>Giriş ve Kayıt Paneli:</a:t>
            </a:r>
            <a:r>
              <a:rPr lang="tr-TR" dirty="0"/>
              <a:t> Kullanıcıların güvenli bir şekilde sisteme dahil olduğu giriş noktası.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b="1" dirty="0"/>
              <a:t>Dashboard (Kontrol Paneli):</a:t>
            </a:r>
            <a:r>
              <a:rPr lang="tr-TR" dirty="0"/>
              <a:t> Doluluk oranları, misafir-abone dengesi ve anlık giriş-çıkış verilerinin izlendiği merkez.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b="1" dirty="0" err="1"/>
              <a:t>Parking</a:t>
            </a:r>
            <a:r>
              <a:rPr lang="tr-TR" b="1" dirty="0"/>
              <a:t> </a:t>
            </a:r>
            <a:r>
              <a:rPr lang="tr-TR" b="1" dirty="0" err="1"/>
              <a:t>Area</a:t>
            </a:r>
            <a:r>
              <a:rPr lang="tr-TR" b="1" dirty="0"/>
              <a:t> (Otopark Alanı):</a:t>
            </a:r>
            <a:r>
              <a:rPr lang="tr-TR" dirty="0"/>
              <a:t> Boş ve dolu park yerlerinin görsel olarak takip edildiği alan.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b="1" dirty="0"/>
              <a:t>Yönetim Paneli (Management):</a:t>
            </a:r>
            <a:r>
              <a:rPr lang="tr-TR" dirty="0"/>
              <a:t> Araç, tarih ve lokasyon bazlı gelişmiş arama özellikleri.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b="1" dirty="0"/>
              <a:t>Genel Bakış ve Gelir Hesaplama (</a:t>
            </a:r>
            <a:r>
              <a:rPr lang="tr-TR" b="1" dirty="0" err="1"/>
              <a:t>Overview</a:t>
            </a:r>
            <a:r>
              <a:rPr lang="tr-TR" b="1" dirty="0"/>
              <a:t>):</a:t>
            </a:r>
            <a:r>
              <a:rPr lang="tr-TR" dirty="0"/>
              <a:t> </a:t>
            </a:r>
            <a:r>
              <a:rPr lang="tr-TR" dirty="0" err="1"/>
              <a:t>Check</a:t>
            </a:r>
            <a:r>
              <a:rPr lang="tr-TR" dirty="0"/>
              <a:t>-in işlemleri, tarih bazlı gelir raporları ve abonelik yönetimi.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b="1" dirty="0"/>
              <a:t>QR Kod Entegrasyonu:</a:t>
            </a:r>
            <a:r>
              <a:rPr lang="tr-TR" dirty="0"/>
              <a:t> Müşterilerin kart yerine QR kullanarak giriş-çıkış yapabilmesi ve "oturduğu saati" anlık görmesi.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tr-TR" b="1" dirty="0">
                <a:ea typeface="+mn-lt"/>
                <a:cs typeface="+mn-lt"/>
              </a:rPr>
              <a:t>Veri Dışa Aktarma ve Arşivleme:</a:t>
            </a:r>
            <a:r>
              <a:rPr lang="tr-TR" dirty="0">
                <a:ea typeface="+mn-lt"/>
                <a:cs typeface="+mn-lt"/>
              </a:rPr>
              <a:t> Sistemdeki tüm hareketlerin (gelirler, giriş-çıkış kayıtları) Excel formatında raporlanabilmesi ve dijital arşiv oluşturulabilmesi.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6999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06E3533-51D9-7672-CCC1-A57EFFB5D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354626"/>
            <a:ext cx="4554821" cy="21860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err="1">
                <a:latin typeface="Avenir Next LT Pro"/>
              </a:rPr>
              <a:t>Algoritma</a:t>
            </a:r>
            <a:r>
              <a:rPr lang="en-US" dirty="0">
                <a:latin typeface="Avenir Next LT Pro"/>
              </a:rPr>
              <a:t> </a:t>
            </a:r>
            <a:r>
              <a:rPr lang="en-US" err="1">
                <a:latin typeface="Avenir Next LT Pro"/>
              </a:rPr>
              <a:t>Akış</a:t>
            </a:r>
            <a:r>
              <a:rPr lang="en-US" dirty="0">
                <a:latin typeface="Avenir Next LT Pro"/>
              </a:rPr>
              <a:t> </a:t>
            </a:r>
            <a:r>
              <a:rPr lang="en-US" err="1">
                <a:latin typeface="Avenir Next LT Pro"/>
              </a:rPr>
              <a:t>Şeması</a:t>
            </a:r>
            <a:endParaRPr lang="tr-TR"/>
          </a:p>
        </p:txBody>
      </p:sp>
      <p:pic>
        <p:nvPicPr>
          <p:cNvPr id="5" name="İçerik Yer Tutucusu 4" descr="diyagram, metin, ekran görüntüsü, pl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F1BC23C-3120-4D07-468D-9FC03327B0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0000" y="974228"/>
            <a:ext cx="6049714" cy="4900268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D2D127-4E8B-CA10-B861-D70791770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85013" y="2547071"/>
            <a:ext cx="4556123" cy="4142654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US" sz="1300" b="1" err="1"/>
              <a:t>Giriş</a:t>
            </a:r>
            <a:r>
              <a:rPr lang="en-US" sz="1300" b="1" dirty="0"/>
              <a:t> </a:t>
            </a:r>
            <a:r>
              <a:rPr lang="en-US" sz="1300" b="1" err="1"/>
              <a:t>ve</a:t>
            </a:r>
            <a:r>
              <a:rPr lang="en-US" sz="1300" b="1" dirty="0"/>
              <a:t> </a:t>
            </a:r>
            <a:r>
              <a:rPr lang="en-US" sz="1300" b="1" err="1"/>
              <a:t>Yetkilendirme</a:t>
            </a:r>
            <a:r>
              <a:rPr lang="en-US" sz="1300" b="1" dirty="0"/>
              <a:t>:</a:t>
            </a:r>
            <a:r>
              <a:rPr lang="en-US" sz="1300" dirty="0"/>
              <a:t> </a:t>
            </a:r>
            <a:r>
              <a:rPr lang="en-US" sz="1300" err="1"/>
              <a:t>Uygulama</a:t>
            </a:r>
            <a:r>
              <a:rPr lang="en-US" sz="1300" dirty="0"/>
              <a:t> </a:t>
            </a:r>
            <a:r>
              <a:rPr lang="en-US" sz="1300" err="1"/>
              <a:t>başladığında</a:t>
            </a:r>
            <a:r>
              <a:rPr lang="en-US" sz="1300" dirty="0"/>
              <a:t> </a:t>
            </a:r>
            <a:r>
              <a:rPr lang="en-US" sz="1300" err="1"/>
              <a:t>kullanıcıyı</a:t>
            </a:r>
            <a:r>
              <a:rPr lang="en-US" sz="1300" dirty="0"/>
              <a:t> </a:t>
            </a:r>
            <a:r>
              <a:rPr lang="en-US" sz="1300" err="1"/>
              <a:t>bir</a:t>
            </a:r>
            <a:r>
              <a:rPr lang="en-US" sz="1300" dirty="0"/>
              <a:t> </a:t>
            </a:r>
            <a:r>
              <a:rPr lang="en-US" sz="1300" err="1"/>
              <a:t>giriş</a:t>
            </a:r>
            <a:r>
              <a:rPr lang="en-US" sz="1300" dirty="0"/>
              <a:t> </a:t>
            </a:r>
            <a:r>
              <a:rPr lang="en-US" sz="1300" err="1"/>
              <a:t>ekranı</a:t>
            </a:r>
            <a:r>
              <a:rPr lang="en-US" sz="1300" dirty="0"/>
              <a:t> </a:t>
            </a:r>
            <a:r>
              <a:rPr lang="en-US" sz="1300" err="1"/>
              <a:t>karşılar</a:t>
            </a:r>
            <a:r>
              <a:rPr lang="en-US" sz="1300" dirty="0"/>
              <a:t>.</a:t>
            </a:r>
            <a:endParaRPr lang="tr-TR" sz="1300"/>
          </a:p>
          <a:p>
            <a:pPr marL="269875" indent="-269875">
              <a:lnSpc>
                <a:spcPct val="115000"/>
              </a:lnSpc>
            </a:pPr>
            <a:r>
              <a:rPr lang="en-US" sz="1300" b="1" dirty="0" err="1"/>
              <a:t>Dört</a:t>
            </a:r>
            <a:r>
              <a:rPr lang="en-US" sz="1300" b="1" dirty="0"/>
              <a:t> </a:t>
            </a:r>
            <a:r>
              <a:rPr lang="en-US" sz="1300" b="1" dirty="0" err="1"/>
              <a:t>Farklı</a:t>
            </a:r>
            <a:r>
              <a:rPr lang="en-US" sz="1300" b="1" dirty="0"/>
              <a:t> Yol:</a:t>
            </a:r>
            <a:endParaRPr lang="en-US" sz="1300" dirty="0"/>
          </a:p>
          <a:p>
            <a:pPr marL="727075" lvl="1" indent="-269875">
              <a:lnSpc>
                <a:spcPct val="114999"/>
              </a:lnSpc>
            </a:pPr>
            <a:r>
              <a:rPr lang="en-US" sz="1300" b="1" err="1"/>
              <a:t>Üye</a:t>
            </a:r>
            <a:r>
              <a:rPr lang="en-US" sz="1300" b="1" dirty="0"/>
              <a:t> </a:t>
            </a:r>
            <a:r>
              <a:rPr lang="en-US" sz="1300" b="1" err="1"/>
              <a:t>Girişi</a:t>
            </a:r>
            <a:r>
              <a:rPr lang="en-US" sz="1300" b="1" dirty="0"/>
              <a:t>:</a:t>
            </a:r>
            <a:r>
              <a:rPr lang="en-US" sz="1300" dirty="0"/>
              <a:t> Veri </a:t>
            </a:r>
            <a:r>
              <a:rPr lang="en-US" sz="1300" err="1"/>
              <a:t>tabanı</a:t>
            </a:r>
            <a:r>
              <a:rPr lang="en-US" sz="1300" dirty="0"/>
              <a:t> </a:t>
            </a:r>
            <a:r>
              <a:rPr lang="en-US" sz="1300" err="1"/>
              <a:t>sorgulaması</a:t>
            </a:r>
            <a:r>
              <a:rPr lang="en-US" sz="1300" dirty="0"/>
              <a:t> </a:t>
            </a:r>
            <a:r>
              <a:rPr lang="en-US" sz="1300" err="1"/>
              <a:t>ile</a:t>
            </a:r>
            <a:r>
              <a:rPr lang="en-US" sz="1300" dirty="0"/>
              <a:t> </a:t>
            </a:r>
            <a:r>
              <a:rPr lang="en-US" sz="1300" err="1"/>
              <a:t>kimlik</a:t>
            </a:r>
            <a:r>
              <a:rPr lang="en-US" sz="1300" dirty="0"/>
              <a:t> </a:t>
            </a:r>
            <a:r>
              <a:rPr lang="en-US" sz="1300" err="1"/>
              <a:t>doğrulaması</a:t>
            </a:r>
            <a:r>
              <a:rPr lang="en-US" sz="1300" dirty="0"/>
              <a:t> </a:t>
            </a:r>
            <a:r>
              <a:rPr lang="en-US" sz="1300" err="1"/>
              <a:t>yapılır</a:t>
            </a:r>
            <a:r>
              <a:rPr lang="en-US" sz="1300" dirty="0"/>
              <a:t>, </a:t>
            </a:r>
            <a:r>
              <a:rPr lang="en-US" sz="1300" err="1"/>
              <a:t>bilgiler</a:t>
            </a:r>
            <a:r>
              <a:rPr lang="en-US" sz="1300" dirty="0"/>
              <a:t> </a:t>
            </a:r>
            <a:r>
              <a:rPr lang="en-US" sz="1300" err="1"/>
              <a:t>doğruysa</a:t>
            </a:r>
            <a:r>
              <a:rPr lang="en-US" sz="1300" dirty="0"/>
              <a:t> ana </a:t>
            </a:r>
            <a:r>
              <a:rPr lang="en-US" sz="1300" err="1"/>
              <a:t>sayfaya</a:t>
            </a:r>
            <a:r>
              <a:rPr lang="en-US" sz="1300" dirty="0"/>
              <a:t> </a:t>
            </a:r>
            <a:r>
              <a:rPr lang="en-US" sz="1300" err="1"/>
              <a:t>yönlendirilir</a:t>
            </a:r>
            <a:r>
              <a:rPr lang="en-US" sz="1300" dirty="0"/>
              <a:t>.</a:t>
            </a:r>
            <a:endParaRPr lang="en-US"/>
          </a:p>
          <a:p>
            <a:pPr marL="719455" lvl="1" indent="-269875">
              <a:lnSpc>
                <a:spcPct val="115000"/>
              </a:lnSpc>
            </a:pPr>
            <a:r>
              <a:rPr lang="en-US" sz="1300" b="1" err="1"/>
              <a:t>Misafir</a:t>
            </a:r>
            <a:r>
              <a:rPr lang="en-US" sz="1300" b="1" dirty="0"/>
              <a:t> </a:t>
            </a:r>
            <a:r>
              <a:rPr lang="en-US" sz="1300" b="1" err="1"/>
              <a:t>Girişi</a:t>
            </a:r>
            <a:r>
              <a:rPr lang="en-US" sz="1300" b="1" dirty="0"/>
              <a:t>:</a:t>
            </a:r>
            <a:r>
              <a:rPr lang="en-US" sz="1300" dirty="0"/>
              <a:t> "</a:t>
            </a:r>
            <a:r>
              <a:rPr lang="en-US" sz="1300" err="1"/>
              <a:t>Sınırlı</a:t>
            </a:r>
            <a:r>
              <a:rPr lang="en-US" sz="1300" dirty="0"/>
              <a:t> </a:t>
            </a:r>
            <a:r>
              <a:rPr lang="en-US" sz="1300" err="1"/>
              <a:t>Yetki</a:t>
            </a:r>
            <a:r>
              <a:rPr lang="en-US" sz="1300" dirty="0"/>
              <a:t>" </a:t>
            </a:r>
            <a:r>
              <a:rPr lang="en-US" sz="1300" err="1"/>
              <a:t>tanımlanarak</a:t>
            </a:r>
            <a:r>
              <a:rPr lang="en-US" sz="1300" dirty="0"/>
              <a:t> </a:t>
            </a:r>
            <a:r>
              <a:rPr lang="en-US" sz="1300" err="1"/>
              <a:t>sisteme</a:t>
            </a:r>
            <a:r>
              <a:rPr lang="en-US" sz="1300" dirty="0"/>
              <a:t> </a:t>
            </a:r>
            <a:r>
              <a:rPr lang="en-US" sz="1300" err="1"/>
              <a:t>hızlı</a:t>
            </a:r>
            <a:r>
              <a:rPr lang="en-US" sz="1300" dirty="0"/>
              <a:t> </a:t>
            </a:r>
            <a:r>
              <a:rPr lang="en-US" sz="1300" err="1"/>
              <a:t>erişim</a:t>
            </a:r>
            <a:r>
              <a:rPr lang="en-US" sz="1300" dirty="0"/>
              <a:t> </a:t>
            </a:r>
            <a:r>
              <a:rPr lang="en-US" sz="1300" err="1"/>
              <a:t>sağlanır</a:t>
            </a:r>
            <a:r>
              <a:rPr lang="en-US" sz="1300" dirty="0"/>
              <a:t>.</a:t>
            </a:r>
          </a:p>
          <a:p>
            <a:pPr marL="719455" lvl="1" indent="-269875">
              <a:lnSpc>
                <a:spcPct val="115000"/>
              </a:lnSpc>
            </a:pPr>
            <a:r>
              <a:rPr lang="en-US" sz="1300" b="1" err="1"/>
              <a:t>Kayıt</a:t>
            </a:r>
            <a:r>
              <a:rPr lang="en-US" sz="1300" b="1" dirty="0"/>
              <a:t> Ol:</a:t>
            </a:r>
            <a:r>
              <a:rPr lang="en-US" sz="1300" dirty="0"/>
              <a:t> Yeni </a:t>
            </a:r>
            <a:r>
              <a:rPr lang="en-US" sz="1300" err="1"/>
              <a:t>kullanıcı</a:t>
            </a:r>
            <a:r>
              <a:rPr lang="en-US" sz="1300" dirty="0"/>
              <a:t> </a:t>
            </a:r>
            <a:r>
              <a:rPr lang="en-US" sz="1300" err="1"/>
              <a:t>bilgileri</a:t>
            </a:r>
            <a:r>
              <a:rPr lang="en-US" sz="1300" dirty="0"/>
              <a:t> </a:t>
            </a:r>
            <a:r>
              <a:rPr lang="en-US" sz="1300" err="1"/>
              <a:t>veri</a:t>
            </a:r>
            <a:r>
              <a:rPr lang="en-US" sz="1300" dirty="0"/>
              <a:t> </a:t>
            </a:r>
            <a:r>
              <a:rPr lang="en-US" sz="1300" err="1"/>
              <a:t>tabanına</a:t>
            </a:r>
            <a:r>
              <a:rPr lang="en-US" sz="1300" dirty="0"/>
              <a:t> </a:t>
            </a:r>
            <a:r>
              <a:rPr lang="en-US" sz="1300" err="1"/>
              <a:t>kaydedilerek</a:t>
            </a:r>
            <a:r>
              <a:rPr lang="en-US" sz="1300" dirty="0"/>
              <a:t> </a:t>
            </a:r>
            <a:r>
              <a:rPr lang="en-US" sz="1300" err="1"/>
              <a:t>sisteme</a:t>
            </a:r>
            <a:r>
              <a:rPr lang="en-US" sz="1300" dirty="0"/>
              <a:t> </a:t>
            </a:r>
            <a:r>
              <a:rPr lang="en-US" sz="1300" err="1"/>
              <a:t>dahil</a:t>
            </a:r>
            <a:r>
              <a:rPr lang="en-US" sz="1300" dirty="0"/>
              <a:t> </a:t>
            </a:r>
            <a:r>
              <a:rPr lang="en-US" sz="1300" err="1"/>
              <a:t>edilir</a:t>
            </a:r>
            <a:r>
              <a:rPr lang="en-US" sz="1300" dirty="0"/>
              <a:t>.</a:t>
            </a:r>
          </a:p>
          <a:p>
            <a:pPr marL="719455" lvl="1" indent="-269875">
              <a:lnSpc>
                <a:spcPct val="115000"/>
              </a:lnSpc>
            </a:pPr>
            <a:r>
              <a:rPr lang="en-US" sz="1300" b="1" err="1"/>
              <a:t>Çıkış</a:t>
            </a:r>
            <a:r>
              <a:rPr lang="en-US" sz="1300" b="1" dirty="0"/>
              <a:t>:</a:t>
            </a:r>
            <a:r>
              <a:rPr lang="en-US" sz="1300" dirty="0"/>
              <a:t> </a:t>
            </a:r>
            <a:r>
              <a:rPr lang="en-US" sz="1300" err="1"/>
              <a:t>Uygulama</a:t>
            </a:r>
            <a:r>
              <a:rPr lang="en-US" sz="1300" dirty="0"/>
              <a:t> </a:t>
            </a:r>
            <a:r>
              <a:rPr lang="en-US" sz="1300" err="1"/>
              <a:t>güvenli</a:t>
            </a:r>
            <a:r>
              <a:rPr lang="en-US" sz="1300" dirty="0"/>
              <a:t> </a:t>
            </a:r>
            <a:r>
              <a:rPr lang="en-US" sz="1300" err="1"/>
              <a:t>bir</a:t>
            </a:r>
            <a:r>
              <a:rPr lang="en-US" sz="1300" dirty="0"/>
              <a:t> </a:t>
            </a:r>
            <a:r>
              <a:rPr lang="en-US" sz="1300" err="1"/>
              <a:t>şekilde</a:t>
            </a:r>
            <a:r>
              <a:rPr lang="en-US" sz="1300" dirty="0"/>
              <a:t> </a:t>
            </a:r>
            <a:r>
              <a:rPr lang="en-US" sz="1300" err="1"/>
              <a:t>kapatılır</a:t>
            </a:r>
            <a:r>
              <a:rPr lang="en-US" sz="1300" dirty="0"/>
              <a:t>.</a:t>
            </a:r>
          </a:p>
          <a:p>
            <a:pPr marL="269875" indent="-269875">
              <a:lnSpc>
                <a:spcPct val="115000"/>
              </a:lnSpc>
            </a:pPr>
            <a:r>
              <a:rPr lang="en-US" sz="1300" b="1" err="1"/>
              <a:t>Döngü</a:t>
            </a:r>
            <a:r>
              <a:rPr lang="en-US" sz="1300" b="1" dirty="0"/>
              <a:t> </a:t>
            </a:r>
            <a:r>
              <a:rPr lang="en-US" sz="1300" b="1" err="1"/>
              <a:t>Yapısı</a:t>
            </a:r>
            <a:r>
              <a:rPr lang="en-US" sz="1300" b="1" dirty="0"/>
              <a:t>:</a:t>
            </a:r>
            <a:r>
              <a:rPr lang="en-US" sz="1300" dirty="0"/>
              <a:t> </a:t>
            </a:r>
            <a:r>
              <a:rPr lang="en-US" sz="1300" err="1"/>
              <a:t>Hatalı</a:t>
            </a:r>
            <a:r>
              <a:rPr lang="en-US" sz="1300" dirty="0"/>
              <a:t> </a:t>
            </a:r>
            <a:r>
              <a:rPr lang="en-US" sz="1300" err="1"/>
              <a:t>girişlerde</a:t>
            </a:r>
            <a:r>
              <a:rPr lang="en-US" sz="1300" dirty="0"/>
              <a:t> </a:t>
            </a:r>
            <a:r>
              <a:rPr lang="en-US" sz="1300" err="1"/>
              <a:t>sistem</a:t>
            </a:r>
            <a:r>
              <a:rPr lang="en-US" sz="1300" dirty="0"/>
              <a:t> </a:t>
            </a:r>
            <a:r>
              <a:rPr lang="en-US" sz="1300" err="1"/>
              <a:t>kullanıcıyı</a:t>
            </a:r>
            <a:r>
              <a:rPr lang="en-US" sz="1300" dirty="0"/>
              <a:t> </a:t>
            </a:r>
            <a:r>
              <a:rPr lang="en-US" sz="1300" err="1"/>
              <a:t>tekrar</a:t>
            </a:r>
            <a:r>
              <a:rPr lang="en-US" sz="1300" dirty="0"/>
              <a:t> </a:t>
            </a:r>
            <a:r>
              <a:rPr lang="en-US" sz="1300" err="1"/>
              <a:t>giriş</a:t>
            </a:r>
            <a:r>
              <a:rPr lang="en-US" sz="1300" dirty="0"/>
              <a:t> </a:t>
            </a:r>
            <a:r>
              <a:rPr lang="en-US" sz="1300" err="1"/>
              <a:t>ekranına</a:t>
            </a:r>
            <a:r>
              <a:rPr lang="en-US" sz="1300" dirty="0"/>
              <a:t> </a:t>
            </a:r>
            <a:r>
              <a:rPr lang="en-US" sz="1300" err="1"/>
              <a:t>yönlendirerek</a:t>
            </a:r>
            <a:r>
              <a:rPr lang="en-US" sz="1300" dirty="0"/>
              <a:t> </a:t>
            </a:r>
            <a:r>
              <a:rPr lang="en-US" sz="1300" err="1"/>
              <a:t>süreci</a:t>
            </a:r>
            <a:r>
              <a:rPr lang="en-US" sz="1300" dirty="0"/>
              <a:t> </a:t>
            </a:r>
            <a:r>
              <a:rPr lang="en-US" sz="1300" err="1"/>
              <a:t>güvenli</a:t>
            </a:r>
            <a:r>
              <a:rPr lang="en-US" sz="1300" dirty="0"/>
              <a:t> </a:t>
            </a:r>
            <a:r>
              <a:rPr lang="en-US" sz="1300" err="1"/>
              <a:t>tutar</a:t>
            </a:r>
            <a:r>
              <a:rPr lang="en-US" sz="1300" dirty="0"/>
              <a:t>.</a:t>
            </a:r>
          </a:p>
          <a:p>
            <a:pPr marL="269875" indent="-269875">
              <a:lnSpc>
                <a:spcPct val="115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734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B81B80B-1436-936B-B076-D3B1F769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5840" y="287951"/>
            <a:ext cx="4554821" cy="21860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Avenir Next LT Pro"/>
              </a:rPr>
              <a:t>Veri </a:t>
            </a:r>
            <a:r>
              <a:rPr lang="en-US" err="1">
                <a:latin typeface="Avenir Next LT Pro"/>
              </a:rPr>
              <a:t>Tabanı</a:t>
            </a:r>
            <a:r>
              <a:rPr lang="en-US">
                <a:latin typeface="Avenir Next LT Pro"/>
              </a:rPr>
              <a:t> </a:t>
            </a:r>
            <a:r>
              <a:rPr lang="en-US" err="1">
                <a:latin typeface="Avenir Next LT Pro"/>
              </a:rPr>
              <a:t>Tasarımı</a:t>
            </a:r>
            <a:endParaRPr lang="tr-TR" err="1">
              <a:latin typeface="Avenir Next LT Pro"/>
            </a:endParaRPr>
          </a:p>
        </p:txBody>
      </p:sp>
      <p:pic>
        <p:nvPicPr>
          <p:cNvPr id="5" name="İçerik Yer Tutucusu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776B000-8DAC-DC2B-ACEF-6277A18A05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09749" y="540000"/>
            <a:ext cx="4110216" cy="5768725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4D9AF2-27BA-35E0-7733-186287339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94538" y="2480396"/>
            <a:ext cx="4556123" cy="38188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US" sz="1500" b="1" err="1"/>
              <a:t>İlişkisel</a:t>
            </a:r>
            <a:r>
              <a:rPr lang="en-US" sz="1500" b="1" dirty="0"/>
              <a:t> </a:t>
            </a:r>
            <a:r>
              <a:rPr lang="en-US" sz="1500" b="1" err="1"/>
              <a:t>Yapı</a:t>
            </a:r>
            <a:r>
              <a:rPr lang="en-US" sz="1500" b="1" dirty="0"/>
              <a:t>:</a:t>
            </a:r>
            <a:r>
              <a:rPr lang="en-US" sz="1500" dirty="0"/>
              <a:t> </a:t>
            </a:r>
            <a:r>
              <a:rPr lang="en-US" sz="1500" err="1"/>
              <a:t>Sistem</a:t>
            </a:r>
            <a:r>
              <a:rPr lang="en-US" sz="1500" dirty="0"/>
              <a:t>; </a:t>
            </a:r>
            <a:r>
              <a:rPr lang="en-US" sz="1500" b="1" err="1"/>
              <a:t>Aboneler</a:t>
            </a:r>
            <a:r>
              <a:rPr lang="en-US" sz="1500" dirty="0"/>
              <a:t> </a:t>
            </a:r>
            <a:r>
              <a:rPr lang="en-US" sz="1500" err="1"/>
              <a:t>ile</a:t>
            </a:r>
            <a:r>
              <a:rPr lang="en-US" sz="1500" dirty="0"/>
              <a:t> </a:t>
            </a:r>
            <a:r>
              <a:rPr lang="en-US" sz="1500" b="1" err="1"/>
              <a:t>AboneÖdemeGeçmişi</a:t>
            </a:r>
            <a:r>
              <a:rPr lang="en-US" sz="1500" dirty="0"/>
              <a:t> </a:t>
            </a:r>
            <a:r>
              <a:rPr lang="en-US" sz="1500" err="1"/>
              <a:t>ve</a:t>
            </a:r>
            <a:r>
              <a:rPr lang="en-US" sz="1500" dirty="0"/>
              <a:t> </a:t>
            </a:r>
            <a:r>
              <a:rPr lang="en-US" sz="1500" b="1" err="1"/>
              <a:t>ParkYerleri</a:t>
            </a:r>
            <a:r>
              <a:rPr lang="en-US" sz="1500" dirty="0"/>
              <a:t> </a:t>
            </a:r>
            <a:r>
              <a:rPr lang="en-US" sz="1500" err="1"/>
              <a:t>ile</a:t>
            </a:r>
            <a:r>
              <a:rPr lang="en-US" sz="1500" dirty="0"/>
              <a:t> </a:t>
            </a:r>
            <a:r>
              <a:rPr lang="en-US" sz="1500" b="1" err="1"/>
              <a:t>GeçmişHareketler</a:t>
            </a:r>
            <a:r>
              <a:rPr lang="en-US" sz="1500" dirty="0"/>
              <a:t> </a:t>
            </a:r>
            <a:r>
              <a:rPr lang="en-US" sz="1500" err="1"/>
              <a:t>arasında</a:t>
            </a:r>
            <a:r>
              <a:rPr lang="en-US" sz="1500" dirty="0"/>
              <a:t> </a:t>
            </a:r>
            <a:r>
              <a:rPr lang="en-US" sz="1500" err="1"/>
              <a:t>kurulan</a:t>
            </a:r>
            <a:r>
              <a:rPr lang="en-US" sz="1500" dirty="0"/>
              <a:t> </a:t>
            </a:r>
            <a:r>
              <a:rPr lang="en-US" sz="1500" err="1"/>
              <a:t>ilişkisel</a:t>
            </a:r>
            <a:r>
              <a:rPr lang="en-US" sz="1500" dirty="0"/>
              <a:t> </a:t>
            </a:r>
            <a:r>
              <a:rPr lang="en-US" sz="1500" err="1"/>
              <a:t>bir</a:t>
            </a:r>
            <a:r>
              <a:rPr lang="en-US" sz="1500" dirty="0"/>
              <a:t> </a:t>
            </a:r>
            <a:r>
              <a:rPr lang="en-US" sz="1500" err="1"/>
              <a:t>mimari</a:t>
            </a:r>
            <a:r>
              <a:rPr lang="en-US" sz="1500" dirty="0"/>
              <a:t> </a:t>
            </a:r>
            <a:r>
              <a:rPr lang="en-US" sz="1500" err="1"/>
              <a:t>üzerine</a:t>
            </a:r>
            <a:r>
              <a:rPr lang="en-US" sz="1500" dirty="0"/>
              <a:t> </a:t>
            </a:r>
            <a:r>
              <a:rPr lang="en-US" sz="1500" err="1"/>
              <a:t>kuruludur</a:t>
            </a:r>
            <a:r>
              <a:rPr lang="en-US" sz="1500" dirty="0"/>
              <a:t>.</a:t>
            </a:r>
            <a:endParaRPr lang="tr-TR" sz="1500"/>
          </a:p>
          <a:p>
            <a:pPr marL="269875" indent="-269875">
              <a:lnSpc>
                <a:spcPct val="115000"/>
              </a:lnSpc>
            </a:pPr>
            <a:r>
              <a:rPr lang="en-US" sz="1500" b="1" dirty="0"/>
              <a:t>Tablo </a:t>
            </a:r>
            <a:r>
              <a:rPr lang="en-US" sz="1500" b="1" err="1"/>
              <a:t>İçerikleri</a:t>
            </a:r>
            <a:r>
              <a:rPr lang="en-US" sz="1500" b="1" dirty="0"/>
              <a:t>:</a:t>
            </a:r>
            <a:endParaRPr lang="en-US" sz="1500" dirty="0"/>
          </a:p>
          <a:p>
            <a:pPr marL="719455" lvl="1" indent="-269875">
              <a:lnSpc>
                <a:spcPct val="115000"/>
              </a:lnSpc>
            </a:pPr>
            <a:r>
              <a:rPr lang="en-US" sz="1500" b="1" err="1"/>
              <a:t>Kullanıcılar</a:t>
            </a:r>
            <a:r>
              <a:rPr lang="en-US" sz="1500" b="1" dirty="0"/>
              <a:t> &amp; </a:t>
            </a:r>
            <a:r>
              <a:rPr lang="en-US" sz="1500" b="1" err="1"/>
              <a:t>Aboneler</a:t>
            </a:r>
            <a:r>
              <a:rPr lang="en-US" sz="1500" b="1" dirty="0"/>
              <a:t>:</a:t>
            </a:r>
            <a:r>
              <a:rPr lang="en-US" sz="1500" dirty="0"/>
              <a:t> </a:t>
            </a:r>
            <a:r>
              <a:rPr lang="en-US" sz="1500" err="1"/>
              <a:t>Yetkilendirme</a:t>
            </a:r>
            <a:r>
              <a:rPr lang="en-US" sz="1500" dirty="0"/>
              <a:t> </a:t>
            </a:r>
            <a:r>
              <a:rPr lang="en-US" sz="1500" err="1"/>
              <a:t>ve</a:t>
            </a:r>
            <a:r>
              <a:rPr lang="en-US" sz="1500" dirty="0"/>
              <a:t> </a:t>
            </a:r>
            <a:r>
              <a:rPr lang="en-US" sz="1500" err="1"/>
              <a:t>üyelik</a:t>
            </a:r>
            <a:r>
              <a:rPr lang="en-US" sz="1500" dirty="0"/>
              <a:t> </a:t>
            </a:r>
            <a:r>
              <a:rPr lang="en-US" sz="1500" err="1"/>
              <a:t>bilgilerini</a:t>
            </a:r>
            <a:r>
              <a:rPr lang="en-US" sz="1500" dirty="0"/>
              <a:t> </a:t>
            </a:r>
            <a:r>
              <a:rPr lang="en-US" sz="1500" err="1"/>
              <a:t>tutar</a:t>
            </a:r>
            <a:r>
              <a:rPr lang="en-US" sz="1500" dirty="0"/>
              <a:t>.</a:t>
            </a:r>
          </a:p>
          <a:p>
            <a:pPr marL="719455" lvl="1" indent="-269875">
              <a:lnSpc>
                <a:spcPct val="115000"/>
              </a:lnSpc>
            </a:pPr>
            <a:r>
              <a:rPr lang="en-US" sz="1500" b="1" err="1"/>
              <a:t>Tarifeler</a:t>
            </a:r>
            <a:r>
              <a:rPr lang="en-US" sz="1500" b="1" dirty="0"/>
              <a:t>:</a:t>
            </a:r>
            <a:r>
              <a:rPr lang="en-US" sz="1500" dirty="0"/>
              <a:t> </a:t>
            </a:r>
            <a:r>
              <a:rPr lang="en-US" sz="1500" err="1"/>
              <a:t>Ücretlendirme</a:t>
            </a:r>
            <a:r>
              <a:rPr lang="en-US" sz="1500" dirty="0"/>
              <a:t> </a:t>
            </a:r>
            <a:r>
              <a:rPr lang="en-US" sz="1500" err="1"/>
              <a:t>mantığını</a:t>
            </a:r>
            <a:r>
              <a:rPr lang="en-US" sz="1500" dirty="0"/>
              <a:t> </a:t>
            </a:r>
            <a:r>
              <a:rPr lang="en-US" sz="1500" err="1"/>
              <a:t>yönetir</a:t>
            </a:r>
            <a:r>
              <a:rPr lang="en-US" sz="1500" dirty="0"/>
              <a:t>.</a:t>
            </a:r>
          </a:p>
          <a:p>
            <a:pPr marL="719455" lvl="1" indent="-269875">
              <a:lnSpc>
                <a:spcPct val="115000"/>
              </a:lnSpc>
            </a:pPr>
            <a:r>
              <a:rPr lang="en-US" sz="1500" b="1" err="1"/>
              <a:t>ParkYerleri</a:t>
            </a:r>
            <a:r>
              <a:rPr lang="en-US" sz="1500" b="1" dirty="0"/>
              <a:t>:</a:t>
            </a:r>
            <a:r>
              <a:rPr lang="en-US" sz="1500" dirty="0"/>
              <a:t> Her </a:t>
            </a:r>
            <a:r>
              <a:rPr lang="en-US" sz="1500" err="1"/>
              <a:t>bir</a:t>
            </a:r>
            <a:r>
              <a:rPr lang="en-US" sz="1500" dirty="0"/>
              <a:t> park </a:t>
            </a:r>
            <a:r>
              <a:rPr lang="en-US" sz="1500" err="1"/>
              <a:t>yerinin</a:t>
            </a:r>
            <a:r>
              <a:rPr lang="en-US" sz="1500" dirty="0"/>
              <a:t> kat </a:t>
            </a:r>
            <a:r>
              <a:rPr lang="en-US" sz="1500" err="1"/>
              <a:t>bilgisini</a:t>
            </a:r>
            <a:r>
              <a:rPr lang="en-US" sz="1500" dirty="0"/>
              <a:t>, </a:t>
            </a:r>
            <a:r>
              <a:rPr lang="en-US" sz="1500" err="1"/>
              <a:t>koordinatlarını</a:t>
            </a:r>
            <a:r>
              <a:rPr lang="en-US" sz="1500" dirty="0"/>
              <a:t> (</a:t>
            </a:r>
            <a:r>
              <a:rPr lang="en-US" sz="1500" err="1"/>
              <a:t>PosX</a:t>
            </a:r>
            <a:r>
              <a:rPr lang="en-US" sz="1500" dirty="0"/>
              <a:t>, </a:t>
            </a:r>
            <a:r>
              <a:rPr lang="en-US" sz="1500" err="1"/>
              <a:t>PosY</a:t>
            </a:r>
            <a:r>
              <a:rPr lang="en-US" sz="1500" dirty="0"/>
              <a:t>) </a:t>
            </a:r>
            <a:r>
              <a:rPr lang="en-US" sz="1500" err="1"/>
              <a:t>ve</a:t>
            </a:r>
            <a:r>
              <a:rPr lang="en-US" sz="1500" dirty="0"/>
              <a:t> </a:t>
            </a:r>
            <a:r>
              <a:rPr lang="en-US" sz="1500" err="1"/>
              <a:t>anlık</a:t>
            </a:r>
            <a:r>
              <a:rPr lang="en-US" sz="1500" dirty="0"/>
              <a:t> </a:t>
            </a:r>
            <a:r>
              <a:rPr lang="en-US" sz="1500" err="1"/>
              <a:t>durumunu</a:t>
            </a:r>
            <a:r>
              <a:rPr lang="en-US" sz="1500" dirty="0"/>
              <a:t> </a:t>
            </a:r>
            <a:r>
              <a:rPr lang="en-US" sz="1500" err="1"/>
              <a:t>saklar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304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A7BD4FB-ED3D-5D3A-866E-2502855A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19535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latin typeface="Avenir Next LT Pro"/>
              </a:rPr>
              <a:t>Gantt </a:t>
            </a:r>
            <a:r>
              <a:rPr lang="en-US" dirty="0" err="1">
                <a:latin typeface="Avenir Next LT Pro"/>
              </a:rPr>
              <a:t>Diyagramı</a:t>
            </a:r>
            <a:endParaRPr lang="tr-TR" dirty="0" err="1">
              <a:latin typeface="Avenir Next LT Pro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288ED3-AE79-DE42-6CA4-5500C7049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2400" y="540000"/>
            <a:ext cx="6408738" cy="199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US" sz="1300" b="1" dirty="0" err="1"/>
              <a:t>Başlangıç</a:t>
            </a:r>
            <a:r>
              <a:rPr lang="en-US" sz="1300" b="1" dirty="0"/>
              <a:t> </a:t>
            </a:r>
            <a:r>
              <a:rPr lang="en-US" sz="1300" b="1" dirty="0" err="1"/>
              <a:t>ve</a:t>
            </a:r>
            <a:r>
              <a:rPr lang="en-US" sz="1300" b="1" dirty="0"/>
              <a:t> Analiz (17 Ekim - </a:t>
            </a:r>
            <a:r>
              <a:rPr lang="en-US" sz="1300" b="1" dirty="0" err="1"/>
              <a:t>Sonrası</a:t>
            </a:r>
            <a:r>
              <a:rPr lang="en-US" sz="1300" b="1" dirty="0"/>
              <a:t>):</a:t>
            </a:r>
            <a:r>
              <a:rPr lang="en-US" sz="1300" dirty="0"/>
              <a:t> </a:t>
            </a:r>
            <a:r>
              <a:rPr lang="en-US" sz="1300" dirty="0" err="1"/>
              <a:t>Proje</a:t>
            </a:r>
            <a:r>
              <a:rPr lang="en-US" sz="1300" dirty="0"/>
              <a:t> </a:t>
            </a:r>
            <a:r>
              <a:rPr lang="en-US" sz="1300" dirty="0" err="1"/>
              <a:t>konusunun</a:t>
            </a:r>
            <a:r>
              <a:rPr lang="en-US" sz="1300" dirty="0"/>
              <a:t> </a:t>
            </a:r>
            <a:r>
              <a:rPr lang="en-US" sz="1300" dirty="0" err="1"/>
              <a:t>belirlenmesi</a:t>
            </a:r>
            <a:r>
              <a:rPr lang="en-US" sz="1300" dirty="0"/>
              <a:t> </a:t>
            </a:r>
            <a:r>
              <a:rPr lang="en-US" sz="1300" dirty="0" err="1"/>
              <a:t>ve</a:t>
            </a:r>
            <a:r>
              <a:rPr lang="en-US" sz="1300" dirty="0"/>
              <a:t> </a:t>
            </a:r>
            <a:r>
              <a:rPr lang="en-US" sz="1300" dirty="0" err="1"/>
              <a:t>gereksinim</a:t>
            </a:r>
            <a:r>
              <a:rPr lang="en-US" sz="1300" dirty="0"/>
              <a:t> </a:t>
            </a:r>
            <a:r>
              <a:rPr lang="en-US" sz="1300" dirty="0" err="1"/>
              <a:t>analizinin</a:t>
            </a:r>
            <a:r>
              <a:rPr lang="en-US" sz="1300" dirty="0"/>
              <a:t> </a:t>
            </a:r>
            <a:r>
              <a:rPr lang="en-US" sz="1300" dirty="0" err="1"/>
              <a:t>yapılmasıyla</a:t>
            </a:r>
            <a:r>
              <a:rPr lang="en-US" sz="1300" dirty="0"/>
              <a:t> </a:t>
            </a:r>
            <a:r>
              <a:rPr lang="en-US" sz="1300" dirty="0" err="1"/>
              <a:t>süreç</a:t>
            </a:r>
            <a:r>
              <a:rPr lang="en-US" sz="1300" dirty="0"/>
              <a:t> </a:t>
            </a:r>
            <a:r>
              <a:rPr lang="en-US" sz="1300" dirty="0" err="1"/>
              <a:t>başladı</a:t>
            </a:r>
            <a:r>
              <a:rPr lang="en-US" sz="1300" dirty="0"/>
              <a:t>.</a:t>
            </a:r>
            <a:endParaRPr lang="tr-TR" dirty="0"/>
          </a:p>
          <a:p>
            <a:pPr marL="269875" indent="-269875">
              <a:lnSpc>
                <a:spcPct val="115000"/>
              </a:lnSpc>
            </a:pPr>
            <a:r>
              <a:rPr lang="en-US" sz="1300" b="1" dirty="0" err="1"/>
              <a:t>Geliştirme</a:t>
            </a:r>
            <a:r>
              <a:rPr lang="en-US" sz="1300" b="1" dirty="0"/>
              <a:t> </a:t>
            </a:r>
            <a:r>
              <a:rPr lang="en-US" sz="1300" b="1" dirty="0" err="1"/>
              <a:t>Süreci</a:t>
            </a:r>
            <a:r>
              <a:rPr lang="en-US" sz="1300" b="1" dirty="0"/>
              <a:t> (Ekim </a:t>
            </a:r>
            <a:r>
              <a:rPr lang="en-US" sz="1300" b="1" dirty="0" err="1"/>
              <a:t>sonu</a:t>
            </a:r>
            <a:r>
              <a:rPr lang="en-US" sz="1300" b="1" dirty="0"/>
              <a:t> - 21 </a:t>
            </a:r>
            <a:r>
              <a:rPr lang="en-US" sz="1300" b="1" dirty="0" err="1"/>
              <a:t>Aralık</a:t>
            </a:r>
            <a:r>
              <a:rPr lang="en-US" sz="1300" b="1" dirty="0"/>
              <a:t>):</a:t>
            </a:r>
            <a:r>
              <a:rPr lang="en-US" sz="1300" dirty="0"/>
              <a:t> </a:t>
            </a:r>
            <a:r>
              <a:rPr lang="en-US" sz="1300" dirty="0" err="1"/>
              <a:t>Arayüz</a:t>
            </a:r>
            <a:r>
              <a:rPr lang="en-US" sz="1300" dirty="0"/>
              <a:t> (UI) </a:t>
            </a:r>
            <a:r>
              <a:rPr lang="en-US" sz="1300" dirty="0" err="1"/>
              <a:t>tasarımı</a:t>
            </a:r>
            <a:r>
              <a:rPr lang="en-US" sz="1300" dirty="0"/>
              <a:t> </a:t>
            </a:r>
            <a:r>
              <a:rPr lang="en-US" sz="1300" dirty="0" err="1"/>
              <a:t>ve</a:t>
            </a:r>
            <a:r>
              <a:rPr lang="en-US" sz="1300" dirty="0"/>
              <a:t> </a:t>
            </a:r>
            <a:r>
              <a:rPr lang="en-US" sz="1300" dirty="0" err="1"/>
              <a:t>uygulama</a:t>
            </a:r>
            <a:r>
              <a:rPr lang="en-US" sz="1300" dirty="0"/>
              <a:t> </a:t>
            </a:r>
            <a:r>
              <a:rPr lang="en-US" sz="1300" dirty="0" err="1"/>
              <a:t>geliştirme</a:t>
            </a:r>
            <a:r>
              <a:rPr lang="en-US" sz="1300" dirty="0"/>
              <a:t> </a:t>
            </a:r>
            <a:r>
              <a:rPr lang="en-US" sz="1300" dirty="0" err="1"/>
              <a:t>aşamaları</a:t>
            </a:r>
            <a:r>
              <a:rPr lang="en-US" sz="1300" dirty="0"/>
              <a:t> </a:t>
            </a:r>
            <a:r>
              <a:rPr lang="en-US" sz="1300" dirty="0" err="1"/>
              <a:t>eş</a:t>
            </a:r>
            <a:r>
              <a:rPr lang="en-US" sz="1300" dirty="0"/>
              <a:t> </a:t>
            </a:r>
            <a:r>
              <a:rPr lang="en-US" sz="1300" dirty="0" err="1"/>
              <a:t>zamanlı</a:t>
            </a:r>
            <a:r>
              <a:rPr lang="en-US" sz="1300" dirty="0"/>
              <a:t> </a:t>
            </a:r>
            <a:r>
              <a:rPr lang="en-US" sz="1300" dirty="0" err="1"/>
              <a:t>olarak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</a:t>
            </a:r>
            <a:r>
              <a:rPr lang="en-US" sz="1300" dirty="0" err="1"/>
              <a:t>uzun</a:t>
            </a:r>
            <a:r>
              <a:rPr lang="en-US" sz="1300" dirty="0"/>
              <a:t> </a:t>
            </a:r>
            <a:r>
              <a:rPr lang="en-US" sz="1300" dirty="0" err="1"/>
              <a:t>süreyi</a:t>
            </a:r>
            <a:r>
              <a:rPr lang="en-US" sz="1300" dirty="0"/>
              <a:t> </a:t>
            </a:r>
            <a:r>
              <a:rPr lang="en-US" sz="1300" dirty="0" err="1"/>
              <a:t>kapsayan</a:t>
            </a:r>
            <a:r>
              <a:rPr lang="en-US" sz="1300" dirty="0"/>
              <a:t> ana </a:t>
            </a:r>
            <a:r>
              <a:rPr lang="en-US" sz="1300" dirty="0" err="1"/>
              <a:t>fazı</a:t>
            </a:r>
            <a:r>
              <a:rPr lang="en-US" sz="1300" dirty="0"/>
              <a:t> </a:t>
            </a:r>
            <a:r>
              <a:rPr lang="en-US" sz="1300" dirty="0" err="1"/>
              <a:t>oluşturdu</a:t>
            </a:r>
            <a:r>
              <a:rPr lang="en-US" sz="1300" dirty="0"/>
              <a:t>.</a:t>
            </a:r>
          </a:p>
          <a:p>
            <a:pPr marL="269875" indent="-269875">
              <a:lnSpc>
                <a:spcPct val="115000"/>
              </a:lnSpc>
            </a:pPr>
            <a:r>
              <a:rPr lang="en-US" sz="1300" b="1" dirty="0"/>
              <a:t>Final </a:t>
            </a:r>
            <a:r>
              <a:rPr lang="en-US" sz="1300" b="1" dirty="0" err="1"/>
              <a:t>Aşaması</a:t>
            </a:r>
            <a:r>
              <a:rPr lang="en-US" sz="1300" b="1" dirty="0"/>
              <a:t> (</a:t>
            </a:r>
            <a:r>
              <a:rPr lang="en-US" sz="1300" b="1" dirty="0" err="1"/>
              <a:t>Aralık</a:t>
            </a:r>
            <a:r>
              <a:rPr lang="en-US" sz="1300" b="1" dirty="0"/>
              <a:t> </a:t>
            </a:r>
            <a:r>
              <a:rPr lang="en-US" sz="1300" b="1" dirty="0" err="1"/>
              <a:t>sonu</a:t>
            </a:r>
            <a:r>
              <a:rPr lang="en-US" sz="1300" b="1" dirty="0"/>
              <a:t>):</a:t>
            </a:r>
            <a:r>
              <a:rPr lang="en-US" sz="1300" dirty="0"/>
              <a:t> Test </a:t>
            </a:r>
            <a:r>
              <a:rPr lang="en-US" sz="1300" dirty="0" err="1"/>
              <a:t>süreci</a:t>
            </a:r>
            <a:r>
              <a:rPr lang="en-US" sz="1300" dirty="0"/>
              <a:t>, </a:t>
            </a:r>
            <a:r>
              <a:rPr lang="en-US" sz="1300" dirty="0" err="1"/>
              <a:t>hata</a:t>
            </a:r>
            <a:r>
              <a:rPr lang="en-US" sz="1300" dirty="0"/>
              <a:t> </a:t>
            </a:r>
            <a:r>
              <a:rPr lang="en-US" sz="1300" dirty="0" err="1"/>
              <a:t>düzeltmeleri</a:t>
            </a:r>
            <a:r>
              <a:rPr lang="en-US" sz="1300" dirty="0"/>
              <a:t> </a:t>
            </a:r>
            <a:r>
              <a:rPr lang="en-US" sz="1300" dirty="0" err="1"/>
              <a:t>ve</a:t>
            </a:r>
            <a:r>
              <a:rPr lang="en-US" sz="1300" dirty="0"/>
              <a:t> </a:t>
            </a:r>
            <a:r>
              <a:rPr lang="en-US" sz="1300" dirty="0" err="1"/>
              <a:t>raporlama</a:t>
            </a:r>
            <a:r>
              <a:rPr lang="en-US" sz="1300" dirty="0"/>
              <a:t> </a:t>
            </a:r>
            <a:r>
              <a:rPr lang="en-US" sz="1300" dirty="0" err="1"/>
              <a:t>çalışmalarıyla</a:t>
            </a:r>
            <a:r>
              <a:rPr lang="en-US" sz="1300" dirty="0"/>
              <a:t> </a:t>
            </a:r>
            <a:r>
              <a:rPr lang="en-US" sz="1300" dirty="0" err="1"/>
              <a:t>proje</a:t>
            </a:r>
            <a:r>
              <a:rPr lang="en-US" sz="1300" dirty="0"/>
              <a:t> 21-26 </a:t>
            </a:r>
            <a:r>
              <a:rPr lang="en-US" sz="1300" dirty="0" err="1"/>
              <a:t>Aralık</a:t>
            </a:r>
            <a:r>
              <a:rPr lang="en-US" sz="1300" dirty="0"/>
              <a:t> </a:t>
            </a:r>
            <a:r>
              <a:rPr lang="en-US" sz="1300" dirty="0" err="1"/>
              <a:t>tarihlerinde</a:t>
            </a:r>
            <a:r>
              <a:rPr lang="en-US" sz="1300" dirty="0"/>
              <a:t> </a:t>
            </a:r>
            <a:r>
              <a:rPr lang="en-US" sz="1300" dirty="0" err="1"/>
              <a:t>tamamlandı</a:t>
            </a:r>
            <a:r>
              <a:rPr lang="en-US" sz="1300" dirty="0"/>
              <a:t>.</a:t>
            </a:r>
          </a:p>
          <a:p>
            <a:pPr marL="269875" indent="-269875">
              <a:lnSpc>
                <a:spcPct val="115000"/>
              </a:lnSpc>
            </a:pPr>
            <a:endParaRPr lang="en-US" sz="1300"/>
          </a:p>
        </p:txBody>
      </p:sp>
      <p:pic>
        <p:nvPicPr>
          <p:cNvPr id="5" name="İçerik Yer Tutucusu 4" descr="metin, ekran görüntüsü, sayı, numar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4C15698-D540-FCD2-017A-7CA2FF4792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3010" y="2871846"/>
            <a:ext cx="7875115" cy="344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5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96F1E9-2E3C-EF2A-3FC1-E6B1F39E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tr-TR" dirty="0">
                <a:latin typeface="Avenir Next LT Pro"/>
              </a:rPr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78ECD1-B897-E983-A048-DA5E34B4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tr-TR" sz="2000" dirty="0">
                <a:ea typeface="+mn-lt"/>
                <a:cs typeface="+mn-lt"/>
              </a:rPr>
              <a:t>   Microsoft Visual </a:t>
            </a:r>
            <a:r>
              <a:rPr lang="tr-TR" sz="2000" dirty="0" err="1">
                <a:ea typeface="+mn-lt"/>
                <a:cs typeface="+mn-lt"/>
              </a:rPr>
              <a:t>Studio</a:t>
            </a:r>
            <a:r>
              <a:rPr lang="tr-TR" sz="2000" dirty="0">
                <a:ea typeface="+mn-lt"/>
                <a:cs typeface="+mn-lt"/>
              </a:rPr>
              <a:t> &amp; C# </a:t>
            </a:r>
            <a:r>
              <a:rPr lang="tr-TR" sz="2000" dirty="0" err="1">
                <a:ea typeface="+mn-lt"/>
                <a:cs typeface="+mn-lt"/>
              </a:rPr>
              <a:t>Winforms</a:t>
            </a:r>
            <a:r>
              <a:rPr lang="tr-TR" sz="2000" dirty="0">
                <a:ea typeface="+mn-lt"/>
                <a:cs typeface="+mn-lt"/>
              </a:rPr>
              <a:t> Framework.</a:t>
            </a:r>
            <a:endParaRPr lang="tr-TR" sz="2000" dirty="0"/>
          </a:p>
          <a:p>
            <a:pPr marL="269875" indent="-269875"/>
            <a:r>
              <a:rPr lang="tr-TR" sz="2000" err="1">
                <a:ea typeface="+mn-lt"/>
                <a:cs typeface="+mn-lt"/>
              </a:rPr>
              <a:t>NuGet</a:t>
            </a:r>
            <a:r>
              <a:rPr lang="tr-TR" sz="2000">
                <a:ea typeface="+mn-lt"/>
                <a:cs typeface="+mn-lt"/>
              </a:rPr>
              <a:t> Paketleri (Özellikle Excel çıktıları için kullanılan güncel paketler).</a:t>
            </a:r>
            <a:endParaRPr lang="tr-TR" sz="2000" dirty="0"/>
          </a:p>
          <a:p>
            <a:pPr marL="269875" indent="-269875"/>
            <a:r>
              <a:rPr lang="tr-TR" sz="2000" dirty="0">
                <a:ea typeface="+mn-lt"/>
                <a:cs typeface="+mn-lt"/>
              </a:rPr>
              <a:t>Yapay Zeka Araçları (Kod optimizasyonu ve fonksiyon yazımı desteği için).</a:t>
            </a:r>
            <a:endParaRPr lang="tr-TR" sz="2000" dirty="0"/>
          </a:p>
          <a:p>
            <a:pPr marL="269875" indent="-269875"/>
            <a:r>
              <a:rPr lang="tr-TR" sz="2000" dirty="0">
                <a:ea typeface="+mn-lt"/>
                <a:cs typeface="+mn-lt"/>
              </a:rPr>
              <a:t>Draw.io (Akış diyagramı tasarımı için).</a:t>
            </a:r>
            <a:endParaRPr lang="tr-TR" sz="2000" dirty="0"/>
          </a:p>
          <a:p>
            <a:pPr marL="269875" indent="-269875"/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601911911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GlowVTI</vt:lpstr>
      <vt:lpstr>PARKWİSE</vt:lpstr>
      <vt:lpstr>Projenin Amacı ve Motivasyonu</vt:lpstr>
      <vt:lpstr>Yapay Zeka (AI) Kullanımı</vt:lpstr>
      <vt:lpstr>Karşılaşılan Problemler ve Çözümler</vt:lpstr>
      <vt:lpstr>Uygulama Özellikleri</vt:lpstr>
      <vt:lpstr>Algoritma Akış Şeması</vt:lpstr>
      <vt:lpstr>Veri Tabanı Tasarımı</vt:lpstr>
      <vt:lpstr>Gantt Diyagramı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457</cp:revision>
  <dcterms:created xsi:type="dcterms:W3CDTF">2025-12-25T08:06:07Z</dcterms:created>
  <dcterms:modified xsi:type="dcterms:W3CDTF">2025-12-29T20:48:17Z</dcterms:modified>
</cp:coreProperties>
</file>